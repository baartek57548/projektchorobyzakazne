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Kacper"/>
  <p:cmAuthor clrIdx="1" id="1" initials="" lastIdx="2" name="S3Q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19T14:48:20.209">
    <p:pos x="196" y="280"/>
    <p:text>By się przydał wykres.
Z gemini:
Macierz korelacji (heatmap) lub wykresy punktowe (scatter plots).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18T11:24:34.813">
    <p:pos x="196" y="725"/>
    <p:text>Może ładniej to opisać, bez nazw zmiennych?</p:text>
  </p:cm>
  <p:cm authorId="1" idx="1" dt="2026-01-18T11:24:34.813">
    <p:pos x="196" y="725"/>
    <p:text>Może lepiej zmienić tytuł na objaśnienie zmiennych?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1-19T14:50:48.754">
    <p:pos x="196" y="280"/>
    <p:text>Raczej nie powinno być o tym, jak poradził sobie model, a dlaczego wybrano dany model (R^2, itd.)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1-19T14:51:58.169">
    <p:pos x="-22" y="0"/>
    <p:text>Tekst przy osi y wygląda na mało czytelny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1-19T14:53:34.124">
    <p:pos x="196" y="280"/>
    <p:text>Powinno być tutaj więcej. W notatkach napisałem co.</p:text>
  </p:cm>
  <p:cm authorId="0" idx="6" dt="2026-01-17T20:35:33.766">
    <p:pos x="196" y="725"/>
    <p:text>Dlaczego?</p:text>
  </p:cm>
  <p:cm authorId="1" idx="2" dt="2026-01-17T20:35:33.766">
    <p:pos x="196" y="725"/>
    <p:text>Ponieważ bylibyśmy w stanie określić dokładnie sezonowość, czyli kiedy dana choroba występuje np. chyba odra ma w lato. Tak analizujemy tylko cykliczność wieloletnią oraz występowanie epizodów epidemicznych.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ba69349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ba69349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87f850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87f850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2ba69349c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2ba69349c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487f850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487f850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ba69349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ba69349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660ffb2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660ffb2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Obsługa braków danych, standaryzacja, integracja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2ba69349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2ba69349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60ffb2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60ffb2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1. Czy gruźlica spada?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Tak, widać wyraźny trend spadkowy dla gruźlicy (dolny prawy wykres).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Początek okresu (ok. 2000 r.):</a:t>
            </a:r>
            <a:r>
              <a:rPr lang="pl" sz="1050">
                <a:solidFill>
                  <a:schemeClr val="dk1"/>
                </a:solidFill>
              </a:rPr>
              <a:t> zachorowalność wynosiła ok. 26 przypadków na 100 tys.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Koniec okresu (ok. 2020 r.):</a:t>
            </a:r>
            <a:r>
              <a:rPr lang="pl" sz="1050">
                <a:solidFill>
                  <a:schemeClr val="dk1"/>
                </a:solidFill>
              </a:rPr>
              <a:t> spadek do ok. 7 przypadków na 100 tys.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To oznacza </a:t>
            </a:r>
            <a:r>
              <a:rPr b="1" lang="pl" sz="1050">
                <a:solidFill>
                  <a:schemeClr val="dk1"/>
                </a:solidFill>
              </a:rPr>
              <a:t>systematyczny spadek</a:t>
            </a:r>
            <a:r>
              <a:rPr lang="pl" sz="1050">
                <a:solidFill>
                  <a:schemeClr val="dk1"/>
                </a:solidFill>
              </a:rPr>
              <a:t> przez cały okres, bez większych wahań.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2. Czy widać wybuchy odry (outbreaks)?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Tak, odra (górny lewy wykres) ma charakterystyczne </a:t>
            </a:r>
            <a:r>
              <a:rPr b="1" lang="pl" sz="1050">
                <a:solidFill>
                  <a:schemeClr val="dk1"/>
                </a:solidFill>
              </a:rPr>
              <a:t>piki epidemiczne</a:t>
            </a:r>
            <a:r>
              <a:rPr lang="pl" sz="1050">
                <a:solidFill>
                  <a:schemeClr val="dk1"/>
                </a:solidFill>
              </a:rPr>
              <a:t>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Największy pik:</a:t>
            </a:r>
            <a:r>
              <a:rPr lang="pl" sz="1050">
                <a:solidFill>
                  <a:schemeClr val="dk1"/>
                </a:solidFill>
              </a:rPr>
              <a:t> ok. 2010 r. (ponad 10 przypadków na 100 tys.).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pl" sz="1050">
                <a:solidFill>
                  <a:schemeClr val="dk1"/>
                </a:solidFill>
              </a:rPr>
              <a:t>Kolejne wzrosty: ok. 2018 r. i 2024 r.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Między tymi pikami zachorowalność jest bardzo niska (bliska zeru), co jest typowe dla chorób z okresowymi epidemiami.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3. Jak COVID-19 wpłynął na raportowanie w latach 2020–2021?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Widać </a:t>
            </a:r>
            <a:r>
              <a:rPr b="1" lang="pl" sz="1050">
                <a:solidFill>
                  <a:schemeClr val="dk1"/>
                </a:solidFill>
              </a:rPr>
              <a:t>sztuczny spadek</a:t>
            </a:r>
            <a:r>
              <a:rPr lang="pl" sz="1050">
                <a:solidFill>
                  <a:schemeClr val="dk1"/>
                </a:solidFill>
              </a:rPr>
              <a:t> w tym okresie dla kilku chorób: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Krzusiec (górny prawy wykres):</a:t>
            </a:r>
            <a:r>
              <a:rPr lang="pl" sz="1050">
                <a:solidFill>
                  <a:schemeClr val="dk1"/>
                </a:solidFill>
              </a:rPr>
              <a:t> gwałtowny spadek do prawie zera w latach 2020–2021.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Salmonelloza (dolny lewy wykres):</a:t>
            </a:r>
            <a:r>
              <a:rPr lang="pl" sz="1050">
                <a:solidFill>
                  <a:schemeClr val="dk1"/>
                </a:solidFill>
              </a:rPr>
              <a:t> wyraźny spadek ok. 2020 r., choć nie tak drastyczny jak w krztuścu.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Odra:</a:t>
            </a:r>
            <a:r>
              <a:rPr lang="pl" sz="1050">
                <a:solidFill>
                  <a:schemeClr val="dk1"/>
                </a:solidFill>
              </a:rPr>
              <a:t> również bardzo niska zachorowalność w tym okresie.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To sugeruje, że pandemia COVID-19 i związane z nią ograniczenia oraz problemy w raportowaniu wpłynęły na dane.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4. Dodatkowe obserwacje:</a:t>
            </a:r>
            <a:endParaRPr b="1" sz="12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Salmonelloza:</a:t>
            </a:r>
            <a:r>
              <a:rPr lang="pl" sz="1050">
                <a:solidFill>
                  <a:schemeClr val="dk1"/>
                </a:solidFill>
              </a:rPr>
              <a:t> ogólny trend lekko spadkowy, ale z wahaniami. Najniższy poziom ok. 2020 r., potem wzrost.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Krzusiec:</a:t>
            </a:r>
            <a:r>
              <a:rPr lang="pl" sz="1050">
                <a:solidFill>
                  <a:schemeClr val="dk1"/>
                </a:solidFill>
              </a:rPr>
              <a:t> brak wyraźnego trendu spadkowego, raczej duże wahania z pikami (np. ok. 2005 r. i 2025 r.).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Odra:</a:t>
            </a:r>
            <a:r>
              <a:rPr lang="pl" sz="1050">
                <a:solidFill>
                  <a:schemeClr val="dk1"/>
                </a:solidFill>
              </a:rPr>
              <a:t> typowy przebieg epidemiczny z okresowymi wybuchami.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ba69349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2ba69349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1. Czy gruźlica spada?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Tak, widać wyraźny trend spadkowy dla gruźlicy (dolny prawy wykres).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Początek okresu (ok. 2000 r.):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zachorowalność wynosiła ok. 26 przypadków na 100 tys.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Koniec okresu (ok. 2020 r.):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spadek do ok. 7 przypadków na 100 tys.</a:t>
            </a:r>
            <a:b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To oznacza </a:t>
            </a: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systematyczny spadek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przez cały okres, bez większych wahań.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2. Czy widać wybuchy odry (outbreaks)?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Tak, odra (górny lewy wykres) ma charakterystyczne </a:t>
            </a: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piki epidemiczne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Największy pik: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ok. 2010 r. (ponad 10 przypadków na 100 tys.).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Kolejne wzrosty: ok. 2018 r. i 2024 r.</a:t>
            </a:r>
            <a:b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Między tymi pikami zachorowalność jest bardzo niska (bliska zeru), co jest typowe dla chorób z okresowymi epidemiami.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3. Jak COVID-19 wpłynął na raportowanie w latach 2020–2021?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Widać </a:t>
            </a: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sztuczny spadek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w tym okresie dla kilku chorób: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Krzusiec (górny prawy wykres):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gwałtowny spadek do prawie zera w latach 2020–2021.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Salmonelloza (dolny lewy wykres):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wyraźny spadek ok. 2020 r., choć nie tak drastyczny jak w krztuścu.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Odra: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również bardzo niska zachorowalność w tym okresie.</a:t>
            </a:r>
            <a:b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To sugeruje, że pandemia COVID-19 i związane z nią ograniczenia oraz problemy w raportowaniu wpłynęły na dane.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4. Dodatkowe obserwacje: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Salmonelloza: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ogólny trend lekko spadkowy, ale z wahaniami. Najniższy poziom ok. 2020 r., potem wzrost.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Krzusiec: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brak wyraźnego trendu spadkowego, raczej duże wahania z pikami (np. ok. 2005 r. i 2025 r.).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Odra: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typowy przebieg epidemiczny z okresowymi wybuchami.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60ffb2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60ffb2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1"/>
                </a:solidFill>
              </a:rPr>
              <a:t>Nie trzeba tekstu na slajdzie, to można przeczytać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1. Odra (Measles)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Występują nagłe, ostre piki zachorowań w pojedynczych latach i krajach (np. wyraźny skok ok. 2010 r. i po 2018 r.).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Przez większość czasu zachorowalność jest bardzo niska, co sugeruje skuteczność szczepień.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Te gwałtowne wzrosty najpewniej wiążą się z: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ogniskami epidemicznymi,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migracjami lub opóźnieniami w szczepieniach.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odra jest chorobą dobrze kontrolowaną, ale bardzo wrażliwą na spadek szczepień – wtedy szybko dochodzi do epidemii.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ba69349c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ba69349c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Nie trzeba tekstu na slajdzie, to można przeczytać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1. Odra (Measles)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Występują nagłe, ostre piki zachorowań w pojedynczych latach i krajach (np. wyraźny skok ok. 2010 r. i po 2018 r.).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Przez większość czasu zachorowalność jest bardzo niska, co sugeruje skuteczność szczepień.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Te gwałtowne wzrosty najpewniej wiążą się z: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ogniskami epidemicznymi,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migracjami lub opóźnieniami w szczepieniach.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Wniosek: odra jest chorobą dobrze kontrolowaną, ale bardzo wrażliwą na spadek szczepień – wtedy szybko dochodzi do epidemii.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b39b94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2b39b94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2. Krztusiec (Pertussis)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Widać większą zmienność między krajami niż w przypadku odry.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U części państw występują cykliczne fale zachorowań (co kilka lat).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widać miejscami spadek, a potem nagły wzrost (np. efekt „odrobienia” zachorowań po pandemii COVID-19).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krztusiec pozostaje chorobą endemiczną, a odporność populacyjna słabnie z czasem, co uzasadnia dawki przypominające.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3. Salmonelloza (Salmonellosis)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Trendy są relatywnie stabilne, bez gwałtownych skoków.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Widoczny jest lekki spadek lub stabilizacja w dłuższym okresie w wielu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między państwami są umiarkowane, co sugeruje podobny poziom bezpieczeństwa żywności.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działania sanitarne i kontrola żywności są skuteczne, choć choroba nadal stanowi stałe obciążenie zdrowia publicznego.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2ba69349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2ba69349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2. Krztusiec (Pertussis)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Widać większą zmienność między krajami niż w przypadku odry.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U części państw występują cykliczne fale zachorowań (co kilka lat).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widać miejscami spadek, a potem nagły wzrost (np. efekt „odrobienia” zachorowań po pandemii COVID-19).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krztusiec pozostaje chorobą endemiczną, a odporność populacyjna słabnie z czasem, co uzasadnia dawki przypominające.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3. Salmonelloza (Salmonellosis)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Trendy są relatywnie stabilne, bez gwałtownych skoków.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Widoczny jest lekki spadek lub stabilizacja w dłuższym okresie w wielu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między państwami są umiarkowane, co sugeruje podobny poziom bezpieczeństwa żywności.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działania sanitarne i kontrola żywności są skuteczne, choć choroba nadal stanowi stałe obciążenie zdrowia publicznego.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b39b947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b39b947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4. Gruźlica (Tuberculosis)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Bardzo wyraźny trend spadkowy od połowy lat 90. w niemal wszystkich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regionalne nadal istnieją, ale ogólny kierunek jest jednoznacznie malejący.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tempo spadku może się spłaszczać.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gruźlica jest przykładem długoterminowego sukcesu zdrowia publicznego, choć nie została całkowicie wyeliminowana.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 przekrojowe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szczepionkowe (odra, krztusiec) → duża wrażliwość na zachowania społeczne i politykę zdrowotną.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odżywnościowe (salmonelloza) → stabilność i zależność od systemów kontroli.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przewlekłe zakaźne (gruźlica) → powolna, ale trwała poprawa.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2ba69349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2ba69349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4. Gruźlica (Tuberculosis)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Bardzo wyraźny trend spadkowy od połowy lat 90. w niemal wszystkich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regionalne nadal istnieją, ale ogólny kierunek jest jednoznacznie malejący.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tempo spadku może się spłaszczać.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gruźlica jest przykładem długoterminowego sukcesu zdrowia publicznego, choć nie została całkowicie wyeliminowana.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 przekrojowe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szczepionkowe (odra, krztusiec) → duża wrażliwość na zachowania społeczne i politykę zdrowotną.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odżywnościowe (salmonelloza) → stabilność i zależność od systemów kontroli.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przewlekłe zakaźne (gruźlica) → powolna, ale trwała poprawa.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b39b94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2b39b94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2ba69349c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2ba69349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660ffb2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660ffb2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Odra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bardzo nieregularny przebieg: długie okresy niskie i gwałtowne piki (np. 2010 pik, 2023 niski okres)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piki są krótkotrwałe, ale bardzo wysokie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Silna korelacja z: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migracjami,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„odkładaniem się” podatnej populacji.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800"/>
              <a:t>Krztusiec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mniej gwałtowne piki niż odra, ale częste nawroty, brak jednoznacznego trendu spadkowego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widać cykliczność kilkuletnią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Wniosek: odporność poszczepienna wygasa, korelacja czasu od szczepienia z zachorowaniami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Gruźlica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skuteczność programów zdrowia publicznego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poprawa diagnostyki i leczenia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Wnioski: gruźlica zachowuję się jak choroba “systemowo kontrolowana”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“idą razem”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Europy Zachodniej mają podobne amplitudy i mniejsze piki chorób.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Europy Wschodniej </a:t>
            </a:r>
            <a:r>
              <a:rPr lang="pl"/>
              <a:t>mają</a:t>
            </a:r>
            <a:r>
              <a:rPr lang="pl"/>
              <a:t> większą zmienność oraz wyższe poziomy bazowe w gruźlicy i krztuścu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Korelacje: </a:t>
            </a:r>
            <a:r>
              <a:rPr lang="pl"/>
              <a:t>poziomem systemu ochrony zdrowia, strukturą demograficzną, raportowaniem danych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Około 2020-2021 widoczny jednoczesny spadek: salmonellozy, krztuśca i gruźlicy. Czasem “sztuczne minimum” (niedoszacowanie).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Silna korelacja systemowa: (</a:t>
            </a:r>
            <a:r>
              <a:rPr lang="pl"/>
              <a:t>niezależna od biologii chorób) lockdowny, maseczki, ograniczony dostęp do diagnostyki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4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Relatywnie </a:t>
            </a:r>
            <a:r>
              <a:rPr b="1" lang="pl">
                <a:solidFill>
                  <a:schemeClr val="dk1"/>
                </a:solidFill>
              </a:rPr>
              <a:t>stabilna na wysokim poziomie</a:t>
            </a:r>
            <a:r>
              <a:rPr lang="pl">
                <a:solidFill>
                  <a:schemeClr val="dk1"/>
                </a:solidFill>
              </a:rPr>
              <a:t> przez wiele lat.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Brak gwałtownych spadków – jedynie krótkoterminowe wahania.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Podobne trendy w wielu krajach → </a:t>
            </a:r>
            <a:r>
              <a:rPr b="1" lang="pl">
                <a:solidFill>
                  <a:schemeClr val="dk1"/>
                </a:solidFill>
              </a:rPr>
              <a:t>wspólne czynniki ryzyka</a:t>
            </a:r>
            <a:r>
              <a:rPr lang="pl">
                <a:solidFill>
                  <a:schemeClr val="dk1"/>
                </a:solidFill>
              </a:rPr>
              <a:t> (żywność, handel).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 </a:t>
            </a:r>
            <a:r>
              <a:rPr b="1" lang="pl">
                <a:solidFill>
                  <a:schemeClr val="dk1"/>
                </a:solidFill>
              </a:rPr>
              <a:t>Korelacja:</a:t>
            </a:r>
            <a:r>
              <a:rPr lang="pl">
                <a:solidFill>
                  <a:schemeClr val="dk1"/>
                </a:solidFill>
              </a:rPr>
              <a:t> brak silnej poprawy mimo postępu medycyny → duża zależność od zachowań konsumenckich.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2ba69349c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2ba69349c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Odra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bardzo nieregularny przebieg: długie okresy niskie i gwałtowne piki (np. 2010 pik, 2023 niski okres)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piki są krótkotrwałe, ale bardzo wysokie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Silna korelacja z: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migracjami,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„odkładaniem się” podatnej populacji.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Krztusiec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mniej gwałtowne piki niż odra, ale częste nawroty, brak jednoznacznego trendu spadkowego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widać cykliczność kilkuletnią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odporność poszczepienna wygasa, korelacja czasu od szczepienia z zachorowaniami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Gruźlica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skuteczność programów zdrowia publicznego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poprawa diagnostyki i leczenia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Wnioski: gruźlica zachowuję się jak choroba “systemowo kontrolowana”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Kraje “idą razem”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Kraje Europy Zachodniej mają podobne amplitudy i mniejsze piki chorób.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Kraje Europy Wschodniej mają większą zmienność oraz wyższe poziomy bazowe w gruźlicy i krztuścu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Korelacje: </a:t>
            </a:r>
            <a:r>
              <a:rPr lang="pl">
                <a:solidFill>
                  <a:schemeClr val="dk1"/>
                </a:solidFill>
              </a:rPr>
              <a:t>poziomem systemu ochrony zdrowia, strukturą demograficzną, raportowaniem danych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Około 2020-2021 widoczny jednoczesny spadek: salmonellozy, krztuśca i gruźlicy. Czasem “sztuczne minimum” (niedoszacowanie).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Silna korelacja systemowa: (</a:t>
            </a:r>
            <a:r>
              <a:rPr lang="pl">
                <a:solidFill>
                  <a:schemeClr val="dk1"/>
                </a:solidFill>
              </a:rPr>
              <a:t>niezależna od biologii chorób) lockdowny, maseczki, ograniczony dostęp do diagnostyki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4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Relatywnie </a:t>
            </a:r>
            <a:r>
              <a:rPr b="1" lang="pl">
                <a:solidFill>
                  <a:schemeClr val="dk1"/>
                </a:solidFill>
              </a:rPr>
              <a:t>stabilna na wysokim poziomie</a:t>
            </a:r>
            <a:r>
              <a:rPr lang="pl">
                <a:solidFill>
                  <a:schemeClr val="dk1"/>
                </a:solidFill>
              </a:rPr>
              <a:t> przez wiele lat.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Brak gwałtownych spadków – jedynie krótkoterminowe wahania.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Podobne trendy w wielu krajach → </a:t>
            </a:r>
            <a:r>
              <a:rPr b="1" lang="pl">
                <a:solidFill>
                  <a:schemeClr val="dk1"/>
                </a:solidFill>
              </a:rPr>
              <a:t>wspólne czynniki ryzyka</a:t>
            </a:r>
            <a:r>
              <a:rPr lang="pl">
                <a:solidFill>
                  <a:schemeClr val="dk1"/>
                </a:solidFill>
              </a:rPr>
              <a:t> (żywność, handel).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 </a:t>
            </a:r>
            <a:r>
              <a:rPr b="1" lang="pl">
                <a:solidFill>
                  <a:schemeClr val="dk1"/>
                </a:solidFill>
              </a:rPr>
              <a:t>Korelacja:</a:t>
            </a:r>
            <a:r>
              <a:rPr lang="pl">
                <a:solidFill>
                  <a:schemeClr val="dk1"/>
                </a:solidFill>
              </a:rPr>
              <a:t> brak silnej poprawy mimo postępu medycyny → duża zależność od zachowań konsumenckich.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660ffb26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660ffb2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Zmienna celu (target), zmienne objaśniające (features), podział zbioru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2ba69349c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2ba69349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660ffb2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660ffb2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Jaki model i uzasadnienie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Powiedzieć o “No Free Lunch Theorem”, aby przyszpanować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ba69349c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2ba69349c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660ffb26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660ffb26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Metryki, wykres(y?), ważność cech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2ba69349c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2ba69349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8b90be78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8b90be7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i Gruźlica (dolne wykresy) – dobre dopasowanie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układają się wzdłuż czerwonej linii, tworząc wyraźny wzorzec liniowy. Oznacza to, że: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poprawnie przewiduje zarówno niskie, jak i wysokie wartości zachorowalności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Błędy są stosunkowo małe i równomiernie rozłożone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można wykorzystać do planowania zasobów zdrowotnych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(górny lewy) – rozproszenie z outlierami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znacznie bardziej rozproszone. Widoczne są: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Skupisko przy niskich wartościach: </a:t>
            </a:r>
            <a:r>
              <a:rPr lang="pl">
                <a:solidFill>
                  <a:schemeClr val="dk1"/>
                </a:solidFill>
              </a:rPr>
              <a:t>Większość krajów-lat ma niską zachorowalność (blisko zera) – model to poprawnie przewiduje.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Outliery w prawej części: </a:t>
            </a:r>
            <a:r>
              <a:rPr lang="pl">
                <a:solidFill>
                  <a:schemeClr val="dk1"/>
                </a:solidFill>
              </a:rPr>
              <a:t>To są przypadki epidemii (wysoka rzeczywista zachorowalność), których model nie przewidział. Punkty są znacznie poniżej czerwonej linii.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Interpretacja: </a:t>
            </a:r>
            <a:r>
              <a:rPr lang="pl">
                <a:solidFill>
                  <a:schemeClr val="dk1"/>
                </a:solidFill>
              </a:rPr>
              <a:t>Model 'wie', że odra zazwyczaj ma niską zachorowalność, ale nie potrafi przewidzieć KIEDY wybuchnie epidemia.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(górny prawy) – brak wzorca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całkowicie rozproszone bez żadnego wyraźnego wzorca. Model predykuje wartości w wąskim zakresie (około średniej), podczas gdy rzeczywiste wartości wahają się znacznie bardziej. To potwierdza, że standardowe modele regresyjne nie nadają się do predykcji krztuśca.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2ba69349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2ba69349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i Gruźlica (dolne wykresy) – dobre dopasowanie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układają się wzdłuż czerwonej linii, tworząc wyraźny wzorzec liniowy. Oznacza to, że: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poprawnie przewiduje zarówno niskie, jak i wysokie wartości zachorowalności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Błędy są stosunkowo małe i równomiernie rozłożone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można wykorzystać do planowania zasobów zdrowotnych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(górny lewy) – rozproszenie z outlierami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znacznie bardziej rozproszone. Widoczne są: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Skupisko przy niskich wartościach: </a:t>
            </a:r>
            <a:r>
              <a:rPr lang="pl">
                <a:solidFill>
                  <a:schemeClr val="dk1"/>
                </a:solidFill>
              </a:rPr>
              <a:t>Większość krajów-lat ma niską zachorowalność (blisko zera) – model to poprawnie przewiduje.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Outliery w prawej części: </a:t>
            </a:r>
            <a:r>
              <a:rPr lang="pl">
                <a:solidFill>
                  <a:schemeClr val="dk1"/>
                </a:solidFill>
              </a:rPr>
              <a:t>To są przypadki epidemii (wysoka rzeczywista zachorowalność), których model nie przewidział. Punkty są znacznie poniżej czerwonej linii.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Interpretacja: </a:t>
            </a:r>
            <a:r>
              <a:rPr lang="pl">
                <a:solidFill>
                  <a:schemeClr val="dk1"/>
                </a:solidFill>
              </a:rPr>
              <a:t>Model 'wie', że odra zazwyczaj ma niską zachorowalność, ale nie potrafi przewidzieć KIEDY wybuchnie epidemia.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(górny prawy) – brak wzorca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dk1"/>
                </a:solidFill>
              </a:rPr>
              <a:t>Punkty są całkowicie rozproszone bez żadnego wyraźnego wzorca. Model predykuje wartości w wąskim zakresie (około średniej), podczas gdy rzeczywiste wartości wahają się znacznie bardziej. To potwierdza, że standardowe modele regresyjne nie nadają się do predykcji krztuśca.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8b90be78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8b90be78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Zachorowalność z poprzedniego roku (Incidence_Lag1) – NAJWAŻNIEJSZY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We wszystkich chorobach Lag1 dominuje jako najważniejszy predyktor. Ma to fundamentalne znaczenie epidemiologiczne: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Autokorelacja czasowa: </a:t>
            </a:r>
            <a:r>
              <a:rPr lang="pl">
                <a:solidFill>
                  <a:schemeClr val="dk1"/>
                </a:solidFill>
              </a:rPr>
              <a:t>Epidemie nie kończą się z dnia na dzień – wirus lub bakteria nadal krąży w populacji. Wysoka zachorowalność w roku N oznacza więcej źródeł zakażenia w roku N+1.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Efekt kaskadowy: </a:t>
            </a:r>
            <a:r>
              <a:rPr lang="pl">
                <a:solidFill>
                  <a:schemeClr val="dk1"/>
                </a:solidFill>
              </a:rPr>
              <a:t>Każdy przypadek generuje kolejne przypadki (łańcuchy transmisji). Epidemie mają tendencję do trwania 2-3 lat, zanim wygasną.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Wczesna i zdecydowana reakcja na wzrost zachorowań jest KRYTYCZNA. Im szybciej opanujemy ognisko, tym mniej przypadków w przyszłości.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Średnia krocząca 3-letnia (Incidence_MA3)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Druga najważniejsza cecha, reprezentująca średnioterminowy trend: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Wygładzenie szumu: </a:t>
            </a:r>
            <a:r>
              <a:rPr lang="pl">
                <a:solidFill>
                  <a:schemeClr val="dk1"/>
                </a:solidFill>
              </a:rPr>
              <a:t>Eliminuje krótkoterminowe fluktuacje i pokazuje rzeczywisty kierunek trendu.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Identyfikacja problemu endemicznego: </a:t>
            </a:r>
            <a:r>
              <a:rPr lang="pl">
                <a:solidFill>
                  <a:schemeClr val="dk1"/>
                </a:solidFill>
              </a:rPr>
              <a:t>Wysoka wartość MA3 wskazuje, że dany kraj ma chroniczny problem z chorobą – nie jednorazowy incydent.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Kraje z wysoką MA3 wymagają długoterminowych, systemowych interwencji, nie tylko reakcji na pojedyncze ogniska.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Wyszczepialność (Vaccination_Coverage_Pct)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Trzecia najważniejsza cecha, szczególnie istotna dla odry i krztuśca: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Ujemna korelacja: </a:t>
            </a:r>
            <a:r>
              <a:rPr lang="pl">
                <a:solidFill>
                  <a:schemeClr val="dk1"/>
                </a:solidFill>
              </a:rPr>
              <a:t>Wyższa wyszczepialność = niższa zachorowalność. Potwierdzenie skuteczności programów szczepień.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Próg odporności zbiorowej: </a:t>
            </a:r>
            <a:r>
              <a:rPr lang="pl">
                <a:solidFill>
                  <a:schemeClr val="dk1"/>
                </a:solidFill>
              </a:rPr>
              <a:t>Dla odry wynosi 95%. Spadek poniżej tego progu DRAMATYCZNIE zwiększa ryzyko epidemii.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Opóźniony efekt: </a:t>
            </a:r>
            <a:r>
              <a:rPr lang="pl">
                <a:solidFill>
                  <a:schemeClr val="dk1"/>
                </a:solidFill>
              </a:rPr>
              <a:t>Spadek wyszczepialności nie powoduje natychmiastowych epidemii – efekt widoczny jest dopiero po 1-3 latach, gdy w populacji nazbiera się wystarczająco dużo osób podatnych.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Monitoring wyszczepialności pozwala PRZEWIDZIEĆ epidemie z 1-3 letnim wyprzedzeniem!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Struktura wiekowa populacji (Pop_Structure_0_14_Pct)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Mniejszy, ale istotny wpływ: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Dzieci jako główna grupa ryzyka: </a:t>
            </a:r>
            <a:r>
              <a:rPr lang="pl">
                <a:solidFill>
                  <a:schemeClr val="dk1"/>
                </a:solidFill>
              </a:rPr>
              <a:t>Dla odry i krztuśca większość przypadków dotyczy dzieci. Kraje z wyższym udziałem dzieci mają wyższą zachorowalność.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Gęstość kontaktów: </a:t>
            </a:r>
            <a:r>
              <a:rPr lang="pl">
                <a:solidFill>
                  <a:schemeClr val="dk1"/>
                </a:solidFill>
              </a:rPr>
              <a:t>Szkoły i przedszkola są miejscami intensywnej transmisji chorób.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2ba69349c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2ba69349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Zachorowalność z poprzedniego roku (Incidence_Lag1) – NAJWAŻNIEJSZY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We wszystkich chorobach Lag1 dominuje jako najważniejszy predyktor. Ma to fundamentalne znaczenie epidemiologiczne: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Autokorelacja czasowa: </a:t>
            </a:r>
            <a:r>
              <a:rPr lang="pl">
                <a:solidFill>
                  <a:schemeClr val="dk1"/>
                </a:solidFill>
              </a:rPr>
              <a:t>Epidemie nie kończą się z dnia na dzień – wirus lub bakteria nadal krąży w populacji. Wysoka zachorowalność w roku N oznacza więcej źródeł zakażenia w roku N+1.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Efekt kaskadowy: </a:t>
            </a:r>
            <a:r>
              <a:rPr lang="pl">
                <a:solidFill>
                  <a:schemeClr val="dk1"/>
                </a:solidFill>
              </a:rPr>
              <a:t>Każdy przypadek generuje kolejne przypadki (łańcuchy transmisji). Epidemie mają tendencję do trwania 2-3 lat, zanim wygasną.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Wczesna i zdecydowana reakcja na wzrost zachorowań jest KRYTYCZNA. Im szybciej opanujemy ognisko, tym mniej przypadków w przyszłości.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Średnia krocząca 3-letnia (Incidence_MA3)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Druga najważniejsza cecha, reprezentująca średnioterminowy trend: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Wygładzenie szumu: </a:t>
            </a:r>
            <a:r>
              <a:rPr lang="pl">
                <a:solidFill>
                  <a:schemeClr val="dk1"/>
                </a:solidFill>
              </a:rPr>
              <a:t>Eliminuje krótkoterminowe fluktuacje i pokazuje rzeczywisty kierunek trendu.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Identyfikacja problemu endemicznego: </a:t>
            </a:r>
            <a:r>
              <a:rPr lang="pl">
                <a:solidFill>
                  <a:schemeClr val="dk1"/>
                </a:solidFill>
              </a:rPr>
              <a:t>Wysoka wartość MA3 wskazuje, że dany kraj ma chroniczny problem z chorobą – nie jednorazowy incydent.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Kraje z wysoką MA3 wymagają długoterminowych, systemowych interwencji, nie tylko reakcji na pojedyncze ogniska.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Wyszczepialność (Vaccination_Coverage_Pct)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Trzecia najważniejsza cecha, szczególnie istotna dla odry i krztuśca: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Ujemna korelacja: </a:t>
            </a:r>
            <a:r>
              <a:rPr lang="pl">
                <a:solidFill>
                  <a:schemeClr val="dk1"/>
                </a:solidFill>
              </a:rPr>
              <a:t>Wyższa wyszczepialność = niższa zachorowalność. Potwierdzenie skuteczności programów szczepień.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Próg odporności zbiorowej: </a:t>
            </a:r>
            <a:r>
              <a:rPr lang="pl">
                <a:solidFill>
                  <a:schemeClr val="dk1"/>
                </a:solidFill>
              </a:rPr>
              <a:t>Dla odry wynosi 95%. Spadek poniżej tego progu DRAMATYCZNIE zwiększa ryzyko epidemii.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Opóźniony efekt: </a:t>
            </a:r>
            <a:r>
              <a:rPr lang="pl">
                <a:solidFill>
                  <a:schemeClr val="dk1"/>
                </a:solidFill>
              </a:rPr>
              <a:t>Spadek wyszczepialności nie powoduje natychmiastowych epidemii – efekt widoczny jest dopiero po 1-3 latach, gdy w populacji nazbiera się wystarczająco dużo osób podatnych.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Monitoring wyszczepialności pozwala PRZEWIDZIEĆ epidemie z 1-3 letnim wyprzedzeniem!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Struktura wiekowa populacji (Pop_Structure_0_14_Pct)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Mniejszy, ale istotny wpływ: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Dzieci jako główna grupa ryzyka: </a:t>
            </a:r>
            <a:r>
              <a:rPr lang="pl">
                <a:solidFill>
                  <a:schemeClr val="dk1"/>
                </a:solidFill>
              </a:rPr>
              <a:t>Dla odry i krztuśca większość przypadków dotyczy dzieci. Kraje z wyższym udziałem dzieci mają wyższą zachorowalność.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Gęstość kontaktów: </a:t>
            </a:r>
            <a:r>
              <a:rPr lang="pl">
                <a:solidFill>
                  <a:schemeClr val="dk1"/>
                </a:solidFill>
              </a:rPr>
              <a:t>Szkoły i przedszkola są miejscami intensywnej transmisji chorób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b90be78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8b90be7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ARIMA (AutoRegressive Integrated Moving Average) to klasyczny model szeregów czasowych. Zastosowano ARIMA(1,1,1):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AR(1): </a:t>
            </a:r>
            <a:r>
              <a:rPr lang="pl">
                <a:solidFill>
                  <a:schemeClr val="dk1"/>
                </a:solidFill>
              </a:rPr>
              <a:t>Autoregresja rzędu 1 – wartość zależy od poprzedniej obserwacji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I(1): </a:t>
            </a:r>
            <a:r>
              <a:rPr lang="pl">
                <a:solidFill>
                  <a:schemeClr val="dk1"/>
                </a:solidFill>
              </a:rPr>
              <a:t>Różnicowanie rzędu 1 – modeluje się przyrosty, nie poziomy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MA(1): </a:t>
            </a:r>
            <a:r>
              <a:rPr lang="pl">
                <a:solidFill>
                  <a:schemeClr val="dk1"/>
                </a:solidFill>
              </a:rPr>
              <a:t>Średnia ruchoma rzędu 1 – uwzględnia poprzedni błąd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Czerwony obszar </a:t>
            </a:r>
            <a:r>
              <a:rPr lang="pl">
                <a:solidFill>
                  <a:schemeClr val="dk1"/>
                </a:solidFill>
              </a:rPr>
              <a:t>na wykresie pokazuje przedział ufności 80% – zakres, w którym z 80% prawdopodobieństwem znajdzie się rzeczywista wartość.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– ALARM! Przewidywany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kontynuację wysokiej zachorowalności lub dalszy wzrost. Jest to bezpośredni efekt: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Zaległości szczepień po COVID-19: </a:t>
            </a:r>
            <a:r>
              <a:rPr lang="pl">
                <a:solidFill>
                  <a:schemeClr val="dk1"/>
                </a:solidFill>
              </a:rPr>
              <a:t>W latach 2020-2022 wiele dzieci nie otrzymało szczepień zgodnie z kalendarzem.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Spadek wyszczepialności: </a:t>
            </a:r>
            <a:r>
              <a:rPr lang="pl">
                <a:solidFill>
                  <a:schemeClr val="dk1"/>
                </a:solidFill>
              </a:rPr>
              <a:t>W niektórych krajach (Rumunia, Bułgaria) wyszczepialność spadła poniżej 90%.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Epidemia 2024: </a:t>
            </a:r>
            <a:r>
              <a:rPr lang="pl">
                <a:solidFill>
                  <a:schemeClr val="dk1"/>
                </a:solidFill>
              </a:rPr>
              <a:t>Trwająca epidemia rozleje się na kolejne lata.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– cykliczny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pokazuje wzrost zachorowalności, co jest zgodne z naturalnym cyklem 3-5 letnim tej choroby.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Naturalny cykl: </a:t>
            </a:r>
            <a:r>
              <a:rPr lang="pl">
                <a:solidFill>
                  <a:schemeClr val="dk1"/>
                </a:solidFill>
              </a:rPr>
              <a:t>Ostatni szczyt był około 2019-2020, więc kolejny przypada na ~2024-2025.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Zanikająca odporność: </a:t>
            </a:r>
            <a:r>
              <a:rPr lang="pl">
                <a:solidFill>
                  <a:schemeClr val="dk1"/>
                </a:solidFill>
              </a:rPr>
              <a:t>Osoby szczepione w dzieciństwie tracą odporność po 5-10 latach.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– stabilność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utrzymanie się zachorowalności na obecnym poziomie, bez wyraźnego trendu wzrostowego ani spadkowego.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Skuteczna kontrola: </a:t>
            </a:r>
            <a:r>
              <a:rPr lang="pl">
                <a:solidFill>
                  <a:schemeClr val="dk1"/>
                </a:solidFill>
              </a:rPr>
              <a:t>Europejskie systemy bezpieczeństwa żywności działają skutecznie.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Sezonowość: </a:t>
            </a:r>
            <a:r>
              <a:rPr lang="pl">
                <a:solidFill>
                  <a:schemeClr val="dk1"/>
                </a:solidFill>
              </a:rPr>
              <a:t>Szczyt w miesiącach letnich – dane roczne wygładzają ten efekt.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Gruźlica – kontynuacja spadku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dalszy spadek zachorowalności, kontynuując trend obserwowany od lat 90. XX wieku.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Sukces programów kontroli: </a:t>
            </a:r>
            <a:r>
              <a:rPr lang="pl">
                <a:solidFill>
                  <a:schemeClr val="dk1"/>
                </a:solidFill>
              </a:rPr>
              <a:t>Diagnostyka molekularna, leczenie DOT, poprawa warunków życia.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dk1"/>
                </a:solidFill>
              </a:rPr>
              <a:t>Różnice regionalne: </a:t>
            </a:r>
            <a:r>
              <a:rPr lang="pl" sz="1200">
                <a:solidFill>
                  <a:schemeClr val="dk1"/>
                </a:solidFill>
              </a:rPr>
              <a:t>Europa Wschodnia nadal ma wyższą zachorowalność niż Zachodnia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2ba69349c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2ba69349c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ARIMA (AutoRegressive Integrated Moving Average) to klasyczny model szeregów czasowych. Zastosowano ARIMA(1,1,1):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AR(1): </a:t>
            </a:r>
            <a:r>
              <a:rPr lang="pl">
                <a:solidFill>
                  <a:schemeClr val="dk1"/>
                </a:solidFill>
              </a:rPr>
              <a:t>Autoregresja rzędu 1 – wartość zależy od poprzedniej obserwacji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I(1): </a:t>
            </a:r>
            <a:r>
              <a:rPr lang="pl">
                <a:solidFill>
                  <a:schemeClr val="dk1"/>
                </a:solidFill>
              </a:rPr>
              <a:t>Różnicowanie rzędu 1 – modeluje się przyrosty, nie poziomy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MA(1): </a:t>
            </a:r>
            <a:r>
              <a:rPr lang="pl">
                <a:solidFill>
                  <a:schemeClr val="dk1"/>
                </a:solidFill>
              </a:rPr>
              <a:t>Średnia ruchoma rzędu 1 – uwzględnia poprzedni błąd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Czerwony obszar </a:t>
            </a:r>
            <a:r>
              <a:rPr lang="pl">
                <a:solidFill>
                  <a:schemeClr val="dk1"/>
                </a:solidFill>
              </a:rPr>
              <a:t>na wykresie pokazuje przedział ufności 80% – zakres, w którym z 80% prawdopodobieństwem znajdzie się rzeczywista wartość.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– ALARM! Przewidywany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kontynuację wysokiej zachorowalności lub dalszy wzrost. Jest to bezpośredni efekt: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Zaległości szczepień po COVID-19: </a:t>
            </a:r>
            <a:r>
              <a:rPr lang="pl">
                <a:solidFill>
                  <a:schemeClr val="dk1"/>
                </a:solidFill>
              </a:rPr>
              <a:t>W latach 2020-2022 wiele dzieci nie otrzymało szczepień zgodnie z kalendarzem.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Spadek wyszczepialności: </a:t>
            </a:r>
            <a:r>
              <a:rPr lang="pl">
                <a:solidFill>
                  <a:schemeClr val="dk1"/>
                </a:solidFill>
              </a:rPr>
              <a:t>W niektórych krajach (Rumunia, Bułgaria) wyszczepialność spadła poniżej 90%.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Epidemia 2024: </a:t>
            </a:r>
            <a:r>
              <a:rPr lang="pl">
                <a:solidFill>
                  <a:schemeClr val="dk1"/>
                </a:solidFill>
              </a:rPr>
              <a:t>Trwająca epidemia rozleje się na kolejne lata.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– cykliczny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pokazuje wzrost zachorowalności, co jest zgodne z naturalnym cyklem 3-5 letnim tej choroby.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Naturalny cykl: </a:t>
            </a:r>
            <a:r>
              <a:rPr lang="pl">
                <a:solidFill>
                  <a:schemeClr val="dk1"/>
                </a:solidFill>
              </a:rPr>
              <a:t>Ostatni szczyt był około 2019-2020, więc kolejny przypada na ~2024-2025.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Zanikająca odporność: </a:t>
            </a:r>
            <a:r>
              <a:rPr lang="pl">
                <a:solidFill>
                  <a:schemeClr val="dk1"/>
                </a:solidFill>
              </a:rPr>
              <a:t>Osoby szczepione w dzieciństwie tracą odporność po 5-10 latach.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– stabilność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utrzymanie się zachorowalności na obecnym poziomie, bez wyraźnego trendu wzrostowego ani spadkowego.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Skuteczna kontrola: </a:t>
            </a:r>
            <a:r>
              <a:rPr lang="pl">
                <a:solidFill>
                  <a:schemeClr val="dk1"/>
                </a:solidFill>
              </a:rPr>
              <a:t>Europejskie systemy bezpieczeństwa żywności działają skutecznie.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Sezonowość: </a:t>
            </a:r>
            <a:r>
              <a:rPr lang="pl">
                <a:solidFill>
                  <a:schemeClr val="dk1"/>
                </a:solidFill>
              </a:rPr>
              <a:t>Szczyt w miesiącach letnich – dane roczne wygładzają ten efekt.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Gruźlica – kontynuacja spadku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dalszy spadek zachorowalności, kontynuując trend obserwowany od lat 90. XX wieku.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Sukces programów kontroli: </a:t>
            </a:r>
            <a:r>
              <a:rPr lang="pl">
                <a:solidFill>
                  <a:schemeClr val="dk1"/>
                </a:solidFill>
              </a:rPr>
              <a:t>Diagnostyka molekularna, leczenie DOT, poprawa warunków życia.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Różnice regionalne: </a:t>
            </a:r>
            <a:r>
              <a:rPr lang="pl" sz="1200">
                <a:solidFill>
                  <a:schemeClr val="dk1"/>
                </a:solidFill>
              </a:rPr>
              <a:t>Europa Wschodnia nadal ma wyższą zachorowalność niż Zachodnia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660ffb26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660ffb26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Które kraje radzą sobie najlepiej, a które najgorzej? Dla której choroby model działał najlepiej, a dla której najgorzej? Ograniczenia projektu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2ba69349c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2ba69349c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2ba69349c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2ba69349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3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4.xml"/><Relationship Id="rId4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5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 i zakres projektu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Cel: Zrozumienie dynamiki czterech chorób (odra, salmonelloza, gruźlica, krztusiec) oraz próba przewidzenia przyszłych zachorowań.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Dlaczego to ważne: Wsparcie decyzji w zdrowiu publicznym, alokacja zasobów, ocena skuteczności szczepień.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Zakres: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Kraje UE/EOG.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Lata: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Odra: 1999 - 2025.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Krztusiec: 1998 - 2023.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Salmonelloza: 2007 - 2024.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Gruźlica: 1995 - 2022.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 dla wszystkich chorób.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taj gdzie odra to podaj ze to sa dane roczne a nie miesieczn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Źródła danych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ECDC: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Liczba przypadków,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Współczynnik zapadalności,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 i miesięczne dla krajów UE/EOG.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Eurostat: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Populacja całkowita oraz struktura wiekowa,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PKB per capita,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Wydatki na służbę zdrowia,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Poziom wyszczepialności</a:t>
            </a:r>
            <a:r>
              <a:rPr lang="pl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Wyzwania: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Liczba przypadków - potwierdzone przypadki, a zgłoszone przypadki,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Niejednolite systemy raportowania w poszczególnych krajach,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Braki danych w wybranych latach np. COVID-19,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Ograniczona dostępność danych o przypadkach importowanych.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Przygotowanie danych</a:t>
            </a:r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1152475"/>
            <a:ext cx="8520600" cy="3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Obsługa braków danych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Zidentyfikowano braki danych wynikające z różnic w raportowaniu między krajami.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Dla pojedynczych braków zastosowano interpolację liniową lub przeniesienie ostatniej dostępnej obserwacji.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Kraje z dużą liczbą braków w </a:t>
            </a:r>
            <a:r>
              <a:rPr lang="pl"/>
              <a:t>kluczowych</a:t>
            </a:r>
            <a:r>
              <a:rPr lang="pl"/>
              <a:t> zmiennych wykluczono z dalszego modelowania.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Standaryzacja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Ujednolicono jednostki zapadalności do liczby przypadków na 100’000 mieszkańców.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Przeliczono współczynnik zapadalności dla odry z N/1’000’000 na N/100’000, aby była spójna jednostka dla wszystkich chorób.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Ujednolicono </a:t>
            </a:r>
            <a:r>
              <a:rPr lang="pl"/>
              <a:t>format</a:t>
            </a:r>
            <a:r>
              <a:rPr lang="pl"/>
              <a:t> </a:t>
            </a:r>
            <a:r>
              <a:rPr lang="pl"/>
              <a:t>daty</a:t>
            </a:r>
            <a:r>
              <a:rPr lang="pl"/>
              <a:t> oraz nazwy krajów (ISO).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Integracja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epidemiologiczne z ECDC połączono z danymi kontekstowymi z Eurostatu.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Integracja została wykonana na poziomie kraj-rok (oraz miesiąc dla odry).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Ostatecznie uzyskano jeden spójny zbiór danych wejściowych do analizy i modelowania.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Trendy czasowe</a:t>
            </a:r>
            <a:endParaRPr/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325" y="360613"/>
            <a:ext cx="6116375" cy="44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311700" y="1017725"/>
            <a:ext cx="2630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Wnioski: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Wyraźny trend spadkowy dla gruźlicy.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Odra ma charakterystyczne piki epidemiczne.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Widać sztuczny spadek w okresie COVID-19, wynikający z ograniczeń oraz braku raportów w tym okresie.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Sezonowość i Geografia</a:t>
            </a:r>
            <a:endParaRPr/>
          </a:p>
        </p:txBody>
      </p:sp>
      <p:pic>
        <p:nvPicPr>
          <p:cNvPr id="105" name="Google Shape;105;p22" title="Zrzut ekranu 2026-01-18 1218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88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397816" cy="26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01425"/>
            <a:ext cx="7654049" cy="26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21" name="Google Shape;1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6" title="Zrzut ekranu 2026-01-18 1221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989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31" name="Google Shape;1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/>
        </p:nvSpPr>
        <p:spPr>
          <a:xfrm>
            <a:off x="224075" y="307475"/>
            <a:ext cx="8937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Wnioski: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Odra</a:t>
            </a:r>
            <a:r>
              <a:rPr lang="pl" sz="1800">
                <a:solidFill>
                  <a:schemeClr val="dk2"/>
                </a:solidFill>
              </a:rPr>
              <a:t> - choroba dobrze kontrolowana, ale bardzo wrażliwa na spadek wyszczepialności. Nawet krótkie luki prowadzą do epidemii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Krztusiec</a:t>
            </a:r>
            <a:r>
              <a:rPr lang="pl" sz="1800">
                <a:solidFill>
                  <a:schemeClr val="dk2"/>
                </a:solidFill>
              </a:rPr>
              <a:t> - choroba endemiczna, z cyklicznymi falami zachorowań. Jeśli odporność słabnie, to konieczne jest przypomnienie dawki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Salmonelloza</a:t>
            </a:r>
            <a:r>
              <a:rPr lang="pl" sz="1800">
                <a:solidFill>
                  <a:schemeClr val="dk2"/>
                </a:solidFill>
              </a:rPr>
              <a:t> - stabilne lub lekko malejące trendy. Brak gwałtownych skoków spowodowany skuteczną kontrolą bezpieczeństwa żywności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Gruźlica</a:t>
            </a:r>
            <a:r>
              <a:rPr lang="pl" sz="1800">
                <a:solidFill>
                  <a:schemeClr val="dk2"/>
                </a:solidFill>
              </a:rPr>
              <a:t> - długoterminowy trend spadkowy. Jest to przykład sukcesu zdrowia publicznego, choć choroba nie została wyeliminowana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224075" y="3559850"/>
            <a:ext cx="857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EFEFEF"/>
                </a:solidFill>
                <a:highlight>
                  <a:srgbClr val="1155CC"/>
                </a:highlight>
              </a:rPr>
              <a:t>Wniosek ogólny:</a:t>
            </a:r>
            <a:endParaRPr sz="1800">
              <a:solidFill>
                <a:srgbClr val="EFEFEF"/>
              </a:solidFill>
              <a:highlight>
                <a:srgbClr val="1155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EFEFEF"/>
                </a:solidFill>
                <a:highlight>
                  <a:srgbClr val="1155CC"/>
                </a:highlight>
              </a:rPr>
              <a:t>Skuteczność kontroli chorób zależy od szczepień (odra, krztusiec), systemów sanitarnych (salmonelloza) oraz długofalowych programów zdrowotnych (gruźlica).</a:t>
            </a:r>
            <a:endParaRPr sz="1800">
              <a:solidFill>
                <a:srgbClr val="EFEFEF"/>
              </a:solidFill>
              <a:highlight>
                <a:srgbClr val="1155CC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Korelacje</a:t>
            </a:r>
            <a:endParaRPr/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Silne </a:t>
            </a:r>
            <a:r>
              <a:rPr lang="pl"/>
              <a:t>korelacje</a:t>
            </a:r>
            <a:r>
              <a:rPr lang="pl"/>
              <a:t> między odrą a wyszczepialnością, krztusiec - czas od szczepienia, gruźlica - polityka zdrowotna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Korelacje</a:t>
            </a:r>
            <a:r>
              <a:rPr lang="pl"/>
              <a:t> międzynarodowe sugerują wspólne czynniki środowiskowe i systemowe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COVID-19 działał jak globalny “zakłócacz danych”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Brak </a:t>
            </a:r>
            <a:r>
              <a:rPr lang="pl"/>
              <a:t>korelacji</a:t>
            </a:r>
            <a:r>
              <a:rPr lang="pl"/>
              <a:t> między salmonellą a wyszczepialnością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Koncepcja modelu i inżynieria cech</a:t>
            </a:r>
            <a:endParaRPr/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Zmienna celu: </a:t>
            </a:r>
            <a:r>
              <a:rPr lang="pl"/>
              <a:t>Zapadalność w roku 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Zmienne objaśniające: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Incidence_Lag1, Lag2 - zachorowalność z poprzednich lat (autokorelacja).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Incidence_MA3 - średnia krocząca 3-letnia (wygładzenie trendu).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Vaccination_Coverage_Pct - procent wyszczepialności populacji.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Pop_Structure_0_14_Pct - udział dzieci (0-14 lat) w populacji.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Year_Norm - znormalizowany trend czasowy.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Podział zbioru: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Zbiór treningowy: lata wcześniejsze.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Zbiór testowy: ostatnie 2-3 lata.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Takie podejście zapobiega wyciekowi informacji z przyszłości i realistycznie ocenia zdolności predykcyjne modeli.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64" name="Google Shape;1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Wybór algorytmu</a:t>
            </a:r>
            <a:endParaRPr/>
          </a:p>
        </p:txBody>
      </p:sp>
      <p:sp>
        <p:nvSpPr>
          <p:cNvPr id="170" name="Google Shape;170;p34"/>
          <p:cNvSpPr txBox="1"/>
          <p:nvPr>
            <p:ph idx="1" type="body"/>
          </p:nvPr>
        </p:nvSpPr>
        <p:spPr>
          <a:xfrm>
            <a:off x="311700" y="1152475"/>
            <a:ext cx="8680500" cy="3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Odra: Las losowy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Łapie nagłe skoki epidemii lepiej niż modele liniowe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Krztusiec: Gradient Boosting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Model napotkał trudności ze względu na anomalię lat pandemii. Cykliczność choroby została zaburzona przez lockdowny, co sprawiło, że model słabiej przewidział gwałtowny powrót zachorowań w 2023 roku.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Salmonelloza: Regresja liniowa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Zastosowana jako model bazowy dla trendu spadkowego, który w ostatnich latach ulega stabilizacji (wypłaszczeniu).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 Gruźlica: Las losowy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Duże różnice między krajami + systematyczny spadek wymagają modelu łapiącego złożone zależności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75" name="Google Shape;1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walidacja modeli</a:t>
            </a:r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13" y="1181100"/>
            <a:ext cx="833437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eksz ten slajd" id="186" name="Google Shape;1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predykcja vs rzeczywistość</a:t>
            </a:r>
            <a:endParaRPr/>
          </a:p>
        </p:txBody>
      </p:sp>
      <p:pic>
        <p:nvPicPr>
          <p:cNvPr id="192" name="Google Shape;1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49" y="1085100"/>
            <a:ext cx="4261376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97" name="Google Shape;1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ważność cech</a:t>
            </a:r>
            <a:endParaRPr/>
          </a:p>
        </p:txBody>
      </p:sp>
      <p:pic>
        <p:nvPicPr>
          <p:cNvPr id="203" name="Google Shape;2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49" y="1085100"/>
            <a:ext cx="4977702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08" name="Google Shape;2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Predykcja na następne lata</a:t>
            </a:r>
            <a:endParaRPr/>
          </a:p>
        </p:txBody>
      </p:sp>
      <p:pic>
        <p:nvPicPr>
          <p:cNvPr id="214" name="Google Shape;2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378" y="1017725"/>
            <a:ext cx="5391247" cy="38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19" name="Google Shape;2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 merytoryczne</a:t>
            </a:r>
            <a:endParaRPr/>
          </a:p>
        </p:txBody>
      </p:sp>
      <p:sp>
        <p:nvSpPr>
          <p:cNvPr id="225" name="Google Shape;22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Ograniczenia projektu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roczne: Nie pozwalają na modelowanie sezonowości. </a:t>
            </a:r>
            <a:r>
              <a:rPr lang="pl"/>
              <a:t>Dane miesięczne byłyby lepsze.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 danych o przypadkach importowanych: Nie można odróżnić transmisji lokalnej od importowanej.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Różnice w raportowaniu: Kraje stosują różne definicje przypadków i systemy nadzoru.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30" name="Google Shape;2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